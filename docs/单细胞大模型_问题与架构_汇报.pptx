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7556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0803A"/>
                </a:solidFill>
                <a:latin typeface="微软雅黑"/>
                <a:ea typeface="微软雅黑"/>
              </a:rPr>
              <a:t>RESEARCH REPORT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75104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1F3A5F"/>
                </a:solidFill>
                <a:latin typeface="微软雅黑"/>
                <a:ea typeface="微软雅黑"/>
              </a:rPr>
              <a:t>单细胞大模型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2491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E5C8A"/>
                </a:solidFill>
                <a:latin typeface="微软雅黑"/>
                <a:ea typeface="微软雅黑"/>
              </a:rPr>
              <a:t>问题、方案与架构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584448"/>
            <a:ext cx="2377440" cy="45720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785615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B5C"/>
                </a:solidFill>
                <a:latin typeface="微软雅黑"/>
                <a:ea typeface="微软雅黑"/>
              </a:rPr>
              <a:t>十二个可验证问题 · 六个架构大类 · 二十七个模型的设计取舍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2062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B7A"/>
                </a:solidFill>
                <a:latin typeface="微软雅黑"/>
                <a:ea typeface="微软雅黑"/>
              </a:rPr>
              <a:t>从“把 BERT 搬到细胞”到“用分布预测干预”：一次以代价为中心的技术盘点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577840"/>
            <a:ext cx="10765231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7424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汇报版 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167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D6B7A"/>
                </a:solidFill>
                <a:latin typeface="微软雅黑"/>
                <a:ea typeface="微软雅黑"/>
              </a:rPr>
              <a:t>2026 年 10 月 26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5103" y="601675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资料截至 2026-10 · 厂商口径单独标注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00  ·  报告地图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四个部分，回答两个问题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5272887" cy="187451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5272887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3A5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883664"/>
            <a:ext cx="42670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303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48156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B7A"/>
                </a:solidFill>
                <a:latin typeface="微软雅黑"/>
                <a:ea typeface="微软雅黑"/>
              </a:rPr>
              <a:t>12 个可验证的问题，分四层
机理 · 证据 · 解法 · 判据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5575" y="1627632"/>
            <a:ext cx="5272887" cy="187451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575" y="1627632"/>
            <a:ext cx="5272887" cy="4572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031" y="184708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E5C8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4255" y="1883664"/>
            <a:ext cx="42670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303F"/>
                </a:solidFill>
                <a:latin typeface="微软雅黑"/>
                <a:ea typeface="微软雅黑"/>
              </a:rPr>
              <a:t>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2468880"/>
            <a:ext cx="48156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B7A"/>
                </a:solidFill>
                <a:latin typeface="微软雅黑"/>
                <a:ea typeface="微软雅黑"/>
              </a:rPr>
              <a:t>6 个架构大类，按建模单元 × 学习信号划分
每类给出归纳偏置与共同天花板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730752"/>
            <a:ext cx="5272887" cy="187451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730752"/>
            <a:ext cx="5272887" cy="45720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502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0803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986784"/>
            <a:ext cx="42670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303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572000"/>
            <a:ext cx="48156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B7A"/>
                </a:solidFill>
                <a:latin typeface="微软雅黑"/>
                <a:ea typeface="微软雅黑"/>
              </a:rPr>
              <a:t>27 款模型的独特设计与代价
一张速查表 + 逐模型点评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5575" y="3730752"/>
            <a:ext cx="5272887" cy="187451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3730752"/>
            <a:ext cx="5272887" cy="45720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031" y="395020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5484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4255" y="3986784"/>
            <a:ext cx="42670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303F"/>
                </a:solidFill>
                <a:latin typeface="微软雅黑"/>
                <a:ea typeface="微软雅黑"/>
              </a:rPr>
              <a:t>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4572000"/>
            <a:ext cx="48156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B7A"/>
                </a:solidFill>
                <a:latin typeface="微软雅黑"/>
                <a:ea typeface="微软雅黑"/>
              </a:rPr>
              <a:t>13 项独立评测的结论
5 条趋势判断 + 3 组建议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00  ·  核心判断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六条判断，先看结论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609344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63677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303F"/>
                </a:solidFill>
                <a:latin typeface="微软雅黑"/>
                <a:ea typeface="微软雅黑"/>
              </a:rPr>
              <a:t>问题是分层的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655064"/>
            <a:ext cx="69247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>
                <a:solidFill>
                  <a:srgbClr val="5D6B7A"/>
                </a:solidFill>
                <a:latin typeface="微软雅黑"/>
                <a:ea typeface="微软雅黑"/>
              </a:rPr>
              <a:t>修好一层，代价会以另一种形式出现在下一层。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77440"/>
            <a:ext cx="402336" cy="402336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68880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40487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303F"/>
                </a:solidFill>
                <a:latin typeface="微软雅黑"/>
                <a:ea typeface="微软雅黑"/>
              </a:rPr>
              <a:t>最硬的问题不在模型侧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423160"/>
            <a:ext cx="69247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>
                <a:solidFill>
                  <a:srgbClr val="5D6B7A"/>
                </a:solidFill>
                <a:latin typeface="微软雅黑"/>
                <a:ea typeface="微软雅黑"/>
              </a:rPr>
              <a:t>泄漏、饱和、噪声，都是数据与评测制度问题。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145536"/>
            <a:ext cx="402336" cy="402336"/>
          </a:xfrm>
          <a:prstGeom prst="ellipse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36976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1729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303F"/>
                </a:solidFill>
                <a:latin typeface="微软雅黑"/>
                <a:ea typeface="微软雅黑"/>
              </a:rPr>
              <a:t>六个大类 = 两组坐标的可行组合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191256"/>
            <a:ext cx="69247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>
                <a:solidFill>
                  <a:srgbClr val="5D6B7A"/>
                </a:solidFill>
                <a:latin typeface="微软雅黑"/>
                <a:ea typeface="微软雅黑"/>
              </a:rPr>
              <a:t>建模单元 × 学习信号；主干是正交选择。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913632"/>
            <a:ext cx="402336" cy="402336"/>
          </a:xfrm>
          <a:prstGeom prst="ellipse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94106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303F"/>
                </a:solidFill>
                <a:latin typeface="微软雅黑"/>
                <a:ea typeface="微软雅黑"/>
              </a:rPr>
              <a:t>每一类都有结构性代价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959352"/>
            <a:ext cx="69247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>
                <a:solidFill>
                  <a:srgbClr val="5D6B7A"/>
                </a:solidFill>
                <a:latin typeface="微软雅黑"/>
                <a:ea typeface="微软雅黑"/>
              </a:rPr>
              <a:t>没有免费午餐：丢幅值、丢序、丢分辨率、丢可解释。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681728"/>
            <a:ext cx="402336" cy="402336"/>
          </a:xfrm>
          <a:prstGeom prst="ellipse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77316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70916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303F"/>
                </a:solidFill>
                <a:latin typeface="微软雅黑"/>
                <a:ea typeface="微软雅黑"/>
              </a:rPr>
              <a:t>2026 的主线是换监督信号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727448"/>
            <a:ext cx="69247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>
                <a:solidFill>
                  <a:srgbClr val="5D6B7A"/>
                </a:solidFill>
                <a:latin typeface="微软雅黑"/>
                <a:ea typeface="微软雅黑"/>
              </a:rPr>
              <a:t>从“重建表达”转向“预测干预后的分布”。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5449824"/>
            <a:ext cx="402336" cy="402336"/>
          </a:xfrm>
          <a:prstGeom prst="ellipse">
            <a:avLst/>
          </a:prstGeom>
          <a:solidFill>
            <a:srgbClr val="6B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541264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547725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303F"/>
                </a:solidFill>
                <a:latin typeface="微软雅黑"/>
                <a:ea typeface="微软雅黑"/>
              </a:rPr>
              <a:t>评测仍停在重建指标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5495544"/>
            <a:ext cx="69247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>
                <a:solidFill>
                  <a:srgbClr val="5D6B7A"/>
                </a:solidFill>
                <a:latin typeface="微软雅黑"/>
                <a:ea typeface="微软雅黑"/>
              </a:rPr>
              <a:t>与“干预正确性”错位，是最大的方法论缺口。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01  ·  问题图谱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十二个问题，四层管线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0765231" cy="1078992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45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2303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5681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模型吃什么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572768"/>
            <a:ext cx="223867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645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1F3A5F"/>
                </a:solidFill>
                <a:latin typeface="微软雅黑"/>
                <a:ea typeface="微软雅黑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645920"/>
            <a:ext cx="1690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规模幻觉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56816"/>
            <a:ext cx="2055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数据翻十倍，下游增益趋零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4679" y="1572768"/>
            <a:ext cx="223867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4407" y="1645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1F3A5F"/>
                </a:solidFill>
                <a:latin typeface="微软雅黑"/>
                <a:ea typeface="微软雅黑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167" y="1645920"/>
            <a:ext cx="1690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噪声与批次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4407" y="1956816"/>
            <a:ext cx="2055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学到的是平台，不是生物学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4799" y="1572768"/>
            <a:ext cx="223867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4527" y="1645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1F3A5F"/>
                </a:solidFill>
                <a:latin typeface="微软雅黑"/>
                <a:ea typeface="微软雅黑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0287" y="1645920"/>
            <a:ext cx="1690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数据泄漏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4527" y="1956816"/>
            <a:ext cx="2055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零样本成绩被预训练污染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4919" y="1572768"/>
            <a:ext cx="223867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647" y="1645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1F3A5F"/>
                </a:solidFill>
                <a:latin typeface="微软雅黑"/>
                <a:ea typeface="微软雅黑"/>
              </a:rP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0407" y="1645920"/>
            <a:ext cx="1690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长尾与偏移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647" y="1956816"/>
            <a:ext cx="20557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稀有类型、跨物种失效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2651760"/>
            <a:ext cx="10765231" cy="1078992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8163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2303F"/>
                </a:solidFill>
                <a:latin typeface="微软雅黑"/>
                <a:ea typeface="微软雅黑"/>
              </a:rPr>
              <a:t>表示层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1272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模型怎么读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2743200"/>
            <a:ext cx="301538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28163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0803A"/>
                </a:solidFill>
                <a:latin typeface="微软雅黑"/>
                <a:ea typeface="微软雅黑"/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0048" y="2816352"/>
            <a:ext cx="24667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词表与顺序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4288" y="3127248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基因没有顺序，词表不通用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1386" y="2743200"/>
            <a:ext cx="301538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11114" y="28163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0803A"/>
                </a:solidFill>
                <a:latin typeface="微软雅黑"/>
                <a:ea typeface="微软雅黑"/>
              </a:rPr>
              <a:t>P6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6874" y="2816352"/>
            <a:ext cx="24667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值的离散化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1114" y="3127248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分箱丢幅值，排序丢绝对量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8212" y="2743200"/>
            <a:ext cx="301538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7940" y="28163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0803A"/>
                </a:solidFill>
                <a:latin typeface="微软雅黑"/>
                <a:ea typeface="微软雅黑"/>
              </a:rPr>
              <a:t>P7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3700" y="2816352"/>
            <a:ext cx="24667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语境缺失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7940" y="3127248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细胞被当成孤岛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822192"/>
            <a:ext cx="10765231" cy="1078992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39867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2303F"/>
                </a:solidFill>
                <a:latin typeface="微软雅黑"/>
                <a:ea typeface="微软雅黑"/>
              </a:rPr>
              <a:t>目标层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4297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模型学什么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913632"/>
            <a:ext cx="301538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04288" y="39867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5B7F5E"/>
                </a:solidFill>
                <a:latin typeface="微软雅黑"/>
                <a:ea typeface="微软雅黑"/>
              </a:rPr>
              <a:t>P8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0048" y="3986784"/>
            <a:ext cx="24667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重建≠理解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288" y="4297680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注意力不等于基因调控网络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1386" y="3913632"/>
            <a:ext cx="301538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11114" y="39867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5B7F5E"/>
                </a:solidFill>
                <a:latin typeface="微软雅黑"/>
                <a:ea typeface="微软雅黑"/>
              </a:rPr>
              <a:t>P9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6874" y="3986784"/>
            <a:ext cx="24667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扰动与因果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1114" y="4297680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打不过加法基线，真实交互 4.2%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8212" y="3913632"/>
            <a:ext cx="301538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7940" y="39867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5B7F5E"/>
                </a:solidFill>
                <a:latin typeface="微软雅黑"/>
                <a:ea typeface="微软雅黑"/>
              </a:rPr>
              <a:t>P10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3700" y="3986784"/>
            <a:ext cx="24667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生成与多模态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17940" y="4297680"/>
            <a:ext cx="28325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全谱生成与跨模态对齐仍早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4992624"/>
            <a:ext cx="10765231" cy="1078992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" y="51572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2303F"/>
                </a:solidFill>
                <a:latin typeface="微软雅黑"/>
                <a:ea typeface="微软雅黑"/>
              </a:rPr>
              <a:t>适配与评价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" y="54681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怎么用、怎么判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0" y="5084064"/>
            <a:ext cx="456879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04288" y="515721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5484A"/>
                </a:solidFill>
                <a:latin typeface="微软雅黑"/>
                <a:ea typeface="微软雅黑"/>
              </a:rPr>
              <a:t>P11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0048" y="5157216"/>
            <a:ext cx="40201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适配成本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04288" y="5468112"/>
            <a:ext cx="4385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微调贵、超参敏感、许可分裂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4799" y="5084064"/>
            <a:ext cx="456879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4527" y="515721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5484A"/>
                </a:solidFill>
                <a:latin typeface="微软雅黑"/>
                <a:ea typeface="微软雅黑"/>
              </a:rPr>
              <a:t>P12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30287" y="5157216"/>
            <a:ext cx="40201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22303F"/>
                </a:solidFill>
                <a:latin typeface="微软雅黑"/>
                <a:ea typeface="微软雅黑"/>
              </a:rPr>
              <a:t>评测失焦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4527" y="5468112"/>
            <a:ext cx="43859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5D6B7A"/>
                </a:solidFill>
                <a:latin typeface="微软雅黑"/>
                <a:ea typeface="微软雅黑"/>
              </a:rPr>
              <a:t>指标与生物学脱节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6144768"/>
            <a:ext cx="10765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C0803A"/>
                </a:solidFill>
                <a:latin typeface="微软雅黑"/>
                <a:ea typeface="微软雅黑"/>
              </a:rPr>
              <a:t>这 12 个问题不是并列清单：修好一层，代价会出现在下一层。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01  ·  问题 · 数据层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模型吃什么：四个问题决定上限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99616"/>
            <a:ext cx="2581579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99616"/>
            <a:ext cx="2581579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3A5F"/>
                </a:solidFill>
                <a:latin typeface="微软雅黑"/>
                <a:ea typeface="微软雅黑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2252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规模幻觉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22523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语料从 3,000 万涨到 3.9 亿，但下游增益在 1%–10% 数据处就停了。没有可用的数据 scaling law。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346704"/>
            <a:ext cx="2252395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01568"/>
            <a:ext cx="18866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下游指标 vs token 数曲线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115" y="1499616"/>
            <a:ext cx="2581579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1115" y="1499616"/>
            <a:ext cx="2581579" cy="54864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707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5C8A"/>
                </a:solidFill>
                <a:latin typeface="微软雅黑"/>
                <a:ea typeface="微软雅黑"/>
              </a:rP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1883664"/>
            <a:ext cx="2252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噪声与批次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07" y="2395728"/>
            <a:ext cx="22523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零值二义、双细胞、环境 RNA；批次效应与生物效应同量级。ASW 好看，整合可能已经失败。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5707" y="3346704"/>
            <a:ext cx="2252395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5707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9755" y="3401568"/>
            <a:ext cx="18866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两组对照 + 噪声注入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1499616"/>
            <a:ext cx="2581579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499616"/>
            <a:ext cx="2581579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3591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5484A"/>
                </a:solidFill>
                <a:latin typeface="微软雅黑"/>
                <a:ea typeface="微软雅黑"/>
              </a:rP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591" y="1883664"/>
            <a:ext cx="2252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数据泄漏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3591" y="2395728"/>
            <a:ext cx="22523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PBMC 3k 有 80.4%、人胰岛 77.0% 的细胞与预训练语料重叠。唯一没有架构解的问题。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3591" y="3346704"/>
            <a:ext cx="2252395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3591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7639" y="3401568"/>
            <a:ext cx="18866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截止日 + 逐细胞指纹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6883" y="1499616"/>
            <a:ext cx="2581579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96883" y="1499616"/>
            <a:ext cx="2581579" cy="548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475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C0803A"/>
                </a:solidFill>
                <a:latin typeface="微软雅黑"/>
                <a:ea typeface="微软雅黑"/>
              </a:rPr>
              <a:t>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475" y="1883664"/>
            <a:ext cx="2252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长尾与偏移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475" y="2395728"/>
            <a:ext cx="22523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总体准确率 97.5%，稀有类召回仍系统性失败。HVG 与截断恰好丢掉低表达标记。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1475" y="3346704"/>
            <a:ext cx="2252395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475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523" y="3401568"/>
            <a:ext cx="18866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per-class recall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681728"/>
            <a:ext cx="10765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60" b="0">
                <a:solidFill>
                  <a:srgbClr val="3D4B5C"/>
                </a:solidFill>
                <a:latin typeface="微软雅黑"/>
                <a:ea typeface="微软雅黑"/>
              </a:rPr>
              <a:t>只有 P2 有真正的架构解（显式协变量、噪声建模、集合损失）；其余三个只能靠数据工程与评测制度。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358384"/>
            <a:ext cx="10765231" cy="65836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5358384"/>
            <a:ext cx="45720" cy="65836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22976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>
                <a:solidFill>
                  <a:srgbClr val="7A4E50"/>
                </a:solidFill>
                <a:latin typeface="微软雅黑"/>
                <a:ea typeface="微软雅黑"/>
              </a:rPr>
              <a:t>核心矛盾：模型在拟合测量，而不是拟合生物学。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01  ·  问题 · 表示层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模型怎么读：三个被低估的设计选择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99616"/>
            <a:ext cx="3490874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99616"/>
            <a:ext cx="3490874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3A5F"/>
                </a:solidFill>
                <a:latin typeface="微软雅黑"/>
                <a:ea typeface="微软雅黑"/>
              </a:rPr>
              <a:t>P5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词表与顺序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316169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基因没有自然顺序，词表随物种与平台变化。四种解法：位置嵌入、秩、蛋白身份、调控先验。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346704"/>
            <a:ext cx="3161690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01568"/>
            <a:ext cx="279593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能否嵌入未见基因/物种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410" y="1499616"/>
            <a:ext cx="3490874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1499616"/>
            <a:ext cx="3490874" cy="54864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5002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5C8A"/>
                </a:solidFill>
                <a:latin typeface="微软雅黑"/>
                <a:ea typeface="微软雅黑"/>
              </a:rPr>
              <a:t>P6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5002" y="1883664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值的离散化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5002" y="2395728"/>
            <a:ext cx="316169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分箱丢幅值、丢序、边界不可迁移。实测排序：soft binning &gt; 连续 ≈ log 分箱 &gt; 硬分箱。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3346704"/>
            <a:ext cx="3161690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5002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9050" y="3401568"/>
            <a:ext cx="279593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跨数据集 + DE 端误差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7588" y="1499616"/>
            <a:ext cx="3490874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7588" y="1499616"/>
            <a:ext cx="3490874" cy="548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2180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7F5E"/>
                </a:solidFill>
                <a:latin typeface="微软雅黑"/>
                <a:ea typeface="微软雅黑"/>
              </a:rPr>
              <a:t>P7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2180" y="1883664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语境缺失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2180" y="2395728"/>
            <a:ext cx="316169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解离测序把组织打散成独立细胞，而生物学发生在细胞之间。空间与邻域信息被完全抹掉。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2180" y="3346704"/>
            <a:ext cx="3161690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2180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6228" y="3401568"/>
            <a:ext cx="279593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去坐标后性能掉多少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81728"/>
            <a:ext cx="10765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60" b="0">
                <a:solidFill>
                  <a:srgbClr val="3D4B5C"/>
                </a:solidFill>
                <a:latin typeface="微软雅黑"/>
                <a:ea typeface="微软雅黑"/>
              </a:rPr>
              <a:t>表示层进步最快：蛋白语言模型让基因身份不再依赖固定词表；软分箱与分布头让表达值不再被硬边界切断。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358384"/>
            <a:ext cx="10765231" cy="65836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5358384"/>
            <a:ext cx="45720" cy="65836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22976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>
                <a:solidFill>
                  <a:srgbClr val="7A4E50"/>
                </a:solidFill>
                <a:latin typeface="微软雅黑"/>
                <a:ea typeface="微软雅黑"/>
              </a:rPr>
              <a:t>核心矛盾：为了兼容词表与语言模型，牺牲了定量信息。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01  ·  问题 · 目标层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模型学什么：三个错位的奖励函数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99616"/>
            <a:ext cx="3490874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99616"/>
            <a:ext cx="3490874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3A5F"/>
                </a:solidFill>
                <a:latin typeface="微软雅黑"/>
                <a:ea typeface="微软雅黑"/>
              </a:rPr>
              <a:t>P8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重建 ≠ 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316169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掩码重建的最优解是学共表达，不是学调控。注意力权重是路由，不是因果。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346704"/>
            <a:ext cx="3161690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01568"/>
            <a:ext cx="279593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与 ChIP/Perturb-seq 重叠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410" y="1499616"/>
            <a:ext cx="3490874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1499616"/>
            <a:ext cx="3490874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5002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5484A"/>
                </a:solidFill>
                <a:latin typeface="微软雅黑"/>
                <a:ea typeface="微软雅黑"/>
              </a:rPr>
              <a:t>P9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5002" y="1883664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扰动与因果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5002" y="2395728"/>
            <a:ext cx="316169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Norman 双扰动上，所有模型误差都高于 additive 基线。真实交互仅 4.2%。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3346704"/>
            <a:ext cx="3161690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5002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9050" y="3401568"/>
            <a:ext cx="279593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DES/PDS + 未见扰动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7588" y="1499616"/>
            <a:ext cx="3490874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7588" y="1499616"/>
            <a:ext cx="3490874" cy="548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2180" y="16459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C0803A"/>
                </a:solidFill>
                <a:latin typeface="微软雅黑"/>
                <a:ea typeface="微软雅黑"/>
              </a:rPr>
              <a:t>P10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2180" y="1883664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生成与多模态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2180" y="2395728"/>
            <a:ext cx="316169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全转录组生成要同时建模两万个相关维度与零膨胀；多模态数据少、缺失普遍。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2180" y="3346704"/>
            <a:ext cx="3161690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2180" y="3419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6228" y="3401568"/>
            <a:ext cx="279593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3D4B5C"/>
                </a:solidFill>
                <a:latin typeface="微软雅黑"/>
                <a:ea typeface="微软雅黑"/>
              </a:rPr>
              <a:t>分布距离 + DE 保真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81728"/>
            <a:ext cx="107652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60" b="0">
                <a:solidFill>
                  <a:srgbClr val="3D4B5C"/>
                </a:solidFill>
                <a:latin typeface="微软雅黑"/>
                <a:ea typeface="微软雅黑"/>
              </a:rPr>
              <a:t>目标层的问题必须换损失，不能换主干：把 Transformer 换成 Mamba、把 12 层加到 40 层，都不会让模型从“重建”转向“预测干预”。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358384"/>
            <a:ext cx="10765231" cy="65836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5358384"/>
            <a:ext cx="45720" cy="65836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22976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>
                <a:solidFill>
                  <a:srgbClr val="7A4E50"/>
                </a:solidFill>
                <a:latin typeface="微软雅黑"/>
                <a:ea typeface="微软雅黑"/>
              </a:rPr>
              <a:t>核心矛盾：奖励函数在奖励复述，而不是奖励干预。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01  ·  问题 · 适配与评价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模型怎么用、怎么判：最后一公里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3456432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3456432" cy="54864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276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>
                <a:solidFill>
                  <a:srgbClr val="2E5C8A"/>
                </a:solidFill>
                <a:latin typeface="微软雅黑"/>
                <a:ea typeface="微软雅黑"/>
              </a:rPr>
              <a:t>P11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6537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适配成本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59152"/>
            <a:ext cx="31272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预训练要数十张 GPU；微调对种子与超参敏感。许可四分五裂：Apache / MIT / GPL / CC BY-NC-ND / 无 LICENSE。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401568"/>
            <a:ext cx="3127248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747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56432"/>
            <a:ext cx="27614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>
                <a:solidFill>
                  <a:srgbClr val="3D4B5C"/>
                </a:solidFill>
                <a:latin typeface="微软雅黑"/>
                <a:ea typeface="微软雅黑"/>
              </a:rPr>
              <a:t>10% 标注的增益 / 单卡可跑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481328"/>
            <a:ext cx="3456432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481328"/>
            <a:ext cx="3456432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276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>
                <a:solidFill>
                  <a:srgbClr val="A5484A"/>
                </a:solidFill>
                <a:latin typeface="微软雅黑"/>
                <a:ea typeface="微软雅黑"/>
              </a:rPr>
              <a:t>P12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86537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>
                <a:solidFill>
                  <a:srgbClr val="22303F"/>
                </a:solidFill>
                <a:latin typeface="微软雅黑"/>
                <a:ea typeface="微软雅黑"/>
              </a:rPr>
              <a:t>评测失焦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359152"/>
            <a:ext cx="31272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MSE 被近零差异基因稀释；benchmark 饱和、排行榜不可比。饱和是“可识别性失败”，不是能力到顶。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4" y="3401568"/>
            <a:ext cx="3127248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34747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C0803A"/>
                </a:solidFill>
                <a:latin typeface="微软雅黑"/>
                <a:ea typeface="微软雅黑"/>
              </a:rPr>
              <a:t>判据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456432"/>
            <a:ext cx="27614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>
                <a:solidFill>
                  <a:srgbClr val="3D4B5C"/>
                </a:solidFill>
                <a:latin typeface="微软雅黑"/>
                <a:ea typeface="微软雅黑"/>
              </a:rPr>
              <a:t>预注册 + 盲测 + 复现包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51790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803A"/>
                </a:solidFill>
                <a:latin typeface="微软雅黑"/>
                <a:ea typeface="微软雅黑"/>
              </a:rPr>
              <a:t>一条向下游传导的因果链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847088"/>
            <a:ext cx="1188720" cy="5120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99339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3774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A94A6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596896"/>
            <a:ext cx="1188720" cy="5120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7432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表示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3127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A94A6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346703"/>
            <a:ext cx="1188720" cy="5120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4930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3877055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A94A6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096511"/>
            <a:ext cx="1188720" cy="512064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4281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适配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46268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A94A6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846320"/>
            <a:ext cx="1188720" cy="5120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9926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评价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6509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40" b="1">
                <a:solidFill>
                  <a:srgbClr val="7A4E50"/>
                </a:solidFill>
                <a:latin typeface="微软雅黑"/>
                <a:ea typeface="微软雅黑"/>
              </a:rPr>
              <a:t>修好一层，代价会以另一种形式出现在下一层。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02  ·  架构分类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六个大类：建模单元 × 学习信号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ig2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1" y="1710428"/>
            <a:ext cx="7223760" cy="42326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5592" y="1554480"/>
            <a:ext cx="33128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两个坐标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592" y="1828800"/>
            <a:ext cx="331287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横轴：第一性对象是什么——基因、细胞、表达谱、状态分布、语言。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5592" y="2542032"/>
            <a:ext cx="331287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纵轴：监督从哪里来——掩码重建、似然生成、对齐、隐空间预测。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5592" y="3310128"/>
            <a:ext cx="3312871" cy="7315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3438144"/>
            <a:ext cx="33128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主干是正交维度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3712463"/>
            <a:ext cx="331287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Performer / RetNet / Mamba / Flowformer 只决定“能读多长、多快”，不决定“学什么”。同一个 Mamba 可以出现在 A 类与 E 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02  ·  A 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掩码基因序列：看一半，猜一半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3478682" cy="13898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3478682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93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3A5F"/>
                </a:solidFill>
                <a:latin typeface="微软雅黑"/>
                <a:ea typeface="微软雅黑"/>
              </a:rPr>
              <a:t>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3112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基因 token 序列 + 掩码重建；BERT 配方可原样复用。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6506" y="1481328"/>
            <a:ext cx="3478682" cy="13898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6506" y="1481328"/>
            <a:ext cx="3478682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386" y="16093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3A5F"/>
                </a:solidFill>
                <a:latin typeface="微软雅黑"/>
                <a:ea typeface="微软雅黑"/>
              </a:rPr>
              <a:t>归纳偏置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1847088"/>
            <a:ext cx="3112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共表达即语法：两个基因总一起出现，就能互相推断。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9780" y="1481328"/>
            <a:ext cx="3478682" cy="13898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9780" y="1481328"/>
            <a:ext cx="3478682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2660" y="16093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3A5F"/>
                </a:solidFill>
                <a:latin typeface="微软雅黑"/>
                <a:ea typeface="微软雅黑"/>
              </a:rPr>
              <a:t>结构性代价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1847088"/>
            <a:ext cx="3112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只奖励“重建自己”，不奖励“干预正确”。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5409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0803A"/>
                </a:solidFill>
                <a:latin typeface="微软雅黑"/>
                <a:ea typeface="微软雅黑"/>
              </a:rPr>
              <a:t>代表模型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55264"/>
            <a:ext cx="976579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8668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scBERT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1251" y="3255264"/>
            <a:ext cx="1408176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6115" y="3328416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Geneformer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80867" y="3255264"/>
            <a:ext cx="1516075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5731" y="3328416"/>
            <a:ext cx="14063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GeneCompass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8382" y="3255264"/>
            <a:ext cx="1516075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3246" y="3328416"/>
            <a:ext cx="14063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Nicheformer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5897" y="3255264"/>
            <a:ext cx="96012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0761" y="3328416"/>
            <a:ext cx="850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UCE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7457" y="3255264"/>
            <a:ext cx="976579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2321" y="3328416"/>
            <a:ext cx="8668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CellFM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15476" y="3255264"/>
            <a:ext cx="1084478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0340" y="3328416"/>
            <a:ext cx="9747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scPRINT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91395" y="3255264"/>
            <a:ext cx="1300276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46259" y="3328416"/>
            <a:ext cx="11905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RegFormer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3913632"/>
            <a:ext cx="10765231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40233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>
                <a:solidFill>
                  <a:srgbClr val="1F3A5F"/>
                </a:solidFill>
                <a:latin typeface="微软雅黑"/>
                <a:ea typeface="微软雅黑"/>
              </a:rPr>
              <a:t>变体谱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1952" y="4005072"/>
            <a:ext cx="93936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硬分箱（scBERT）→ 秩（Geneformer）→ 连续（CellFM）→ 软分箱（State）→ 蛋白身份（UCE）→ 分布头（scPRINT）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645152"/>
            <a:ext cx="10765231" cy="65836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4645152"/>
            <a:ext cx="45720" cy="65836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3659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>
                <a:solidFill>
                  <a:srgbClr val="5B7F5E"/>
                </a:solidFill>
                <a:latin typeface="微软雅黑"/>
                <a:ea typeface="微软雅黑"/>
              </a:rPr>
              <a:t>适用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4752" y="472744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3D4B5C"/>
                </a:solidFill>
                <a:latin typeface="微软雅黑"/>
                <a:ea typeface="微软雅黑"/>
              </a:rPr>
              <a:t>注释、检索、基因功能、数据稀缺时的迁移起点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473659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不适用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47274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3D4B5C"/>
                </a:solidFill>
                <a:latin typeface="微软雅黑"/>
                <a:ea typeface="微软雅黑"/>
              </a:rPr>
              <a:t>扰动预测、生成、跨物种定量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59612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一句话：A 类的竞争史，就是一部 tokenizer 迭代史。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02  ·  架构分类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四类结构，四种代价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63040"/>
            <a:ext cx="5272887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5272887" cy="54864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91056"/>
            <a:ext cx="48339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E5C8A"/>
                </a:solidFill>
                <a:latin typeface="微软雅黑"/>
                <a:ea typeface="微软雅黑"/>
              </a:rPr>
              <a:t>B 类 · 自回归基因序列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833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2303F"/>
                </a:solidFill>
                <a:latin typeface="微软雅黑"/>
                <a:ea typeface="微软雅黑"/>
              </a:rPr>
              <a:t>顺着往下写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3113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2203704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p(x)=∏ p(g,c | 前序)；训练信号是似然，不是重建。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008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734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条件生成、计数分布、不确定性。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7063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743200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scGPT：块状掩码，让“敲除”变成一次前向。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TranscriptFormer：ZTP 计数头 + 247k 跨物种词表。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scMulan：元数据即 prompt。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4152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3878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推理逐 token；基因顺序人为；对分布外过度自信。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97680"/>
            <a:ext cx="48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>
                <a:solidFill>
                  <a:srgbClr val="2E5C8A"/>
                </a:solidFill>
                <a:latin typeface="微软雅黑"/>
                <a:ea typeface="微软雅黑"/>
              </a:rPr>
              <a:t>它把“生成”变成可计算的目标，但顺序是人为的。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09744"/>
            <a:ext cx="4833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E5C8A"/>
                </a:solidFill>
                <a:latin typeface="微软雅黑"/>
                <a:ea typeface="微软雅黑"/>
              </a:rPr>
              <a:t>scGPT · TranscriptFormer · scMulan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575" y="1463040"/>
            <a:ext cx="5272887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5575" y="1463040"/>
            <a:ext cx="5272887" cy="548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5031" y="1591056"/>
            <a:ext cx="48339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0803A"/>
                </a:solidFill>
                <a:latin typeface="微软雅黑"/>
                <a:ea typeface="微软雅黑"/>
              </a:rPr>
              <a:t>C 类 · 连续谱编解码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1810512"/>
            <a:ext cx="4833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2303F"/>
                </a:solidFill>
                <a:latin typeface="微软雅黑"/>
                <a:ea typeface="微软雅黑"/>
              </a:rPr>
              <a:t>压成向量，再还原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223113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定义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27" y="2203704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z=E(x)，x̂=D(z)；显式建模“整谱”。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5031" y="25008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3127" y="24734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去噪、补全、跨平台、跨模态。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031" y="277063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3127" y="2743200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scFoundation：只编码非零位，90% 的零不进注意力。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CellVQ：细胞压成 2^16 码本整数。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CAPTAIN：蛋白 query 去读 RNA。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031" y="34152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3127" y="33878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固定基因数；MSE 被高表达主导。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031" y="4297680"/>
            <a:ext cx="48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>
                <a:solidFill>
                  <a:srgbClr val="C0803A"/>
                </a:solidFill>
                <a:latin typeface="微软雅黑"/>
                <a:ea typeface="微软雅黑"/>
              </a:rPr>
              <a:t>它把“整谱”变成可压缩对象，但基因关系被压进一个向量。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4809744"/>
            <a:ext cx="4833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0803A"/>
                </a:solidFill>
                <a:latin typeface="微软雅黑"/>
                <a:ea typeface="微软雅黑"/>
              </a:rPr>
              <a:t>scFoundation · xTrimoGene · CellVQ · CAPTAIN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687568"/>
            <a:ext cx="10765231" cy="56692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687568"/>
            <a:ext cx="45720" cy="56692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7A4E50"/>
                </a:solidFill>
                <a:latin typeface="微软雅黑"/>
                <a:ea typeface="微软雅黑"/>
              </a:rPr>
              <a:t>B 类与 C 类的共同点：都换了损失函数；区别是换似然，还是换重建目标。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02  ·  架构分类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另外两类：换建模单元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63040"/>
            <a:ext cx="5272887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5272887" cy="548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91056"/>
            <a:ext cx="48339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B7F5E"/>
                </a:solidFill>
                <a:latin typeface="微软雅黑"/>
                <a:ea typeface="微软雅黑"/>
              </a:rPr>
              <a:t>D 类 · 细胞集合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833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2303F"/>
                </a:solidFill>
                <a:latin typeface="微软雅黑"/>
                <a:ea typeface="微软雅黑"/>
              </a:rPr>
              <a:t>细胞看细胞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3113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2203704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细胞为 token，同一张切片或同一组扰动里的细胞互相注意。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008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734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线性注意力 / 集合编码器 / 下一细胞预测。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7063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743200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CellPLM：切片内 Flowformer + 16 分量高斯混合。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State：256 个细胞的集合，MMD/能量距离。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tGPT：细胞序列当文本。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4152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3878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基因关系被压平；推理需邻域；集合丢分辨率。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97680"/>
            <a:ext cx="48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>
                <a:solidFill>
                  <a:srgbClr val="5B7F5E"/>
                </a:solidFill>
                <a:latin typeface="微软雅黑"/>
                <a:ea typeface="微软雅黑"/>
              </a:rPr>
              <a:t>它把“语境”带进模型，但丢掉了单基因分辨率。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09744"/>
            <a:ext cx="4833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B7F5E"/>
                </a:solidFill>
                <a:latin typeface="微软雅黑"/>
                <a:ea typeface="微软雅黑"/>
              </a:rPr>
              <a:t>CellPLM · State · tGPT · Tahoe-x1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5575" y="1463040"/>
            <a:ext cx="5272887" cy="4023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5575" y="1463040"/>
            <a:ext cx="5272887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5031" y="1591056"/>
            <a:ext cx="48339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5484A"/>
                </a:solidFill>
                <a:latin typeface="微软雅黑"/>
                <a:ea typeface="微软雅黑"/>
              </a:rPr>
              <a:t>E 类 · 状态分布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1810512"/>
            <a:ext cx="4833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2303F"/>
                </a:solidFill>
                <a:latin typeface="微软雅黑"/>
                <a:ea typeface="微软雅黑"/>
              </a:rPr>
              <a:t>学分布，不学点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223113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定义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27" y="2203704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学 p(x_t | x_0, c)：扩散去噪、流匹配速度场、JEPA 隐空间预测。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5031" y="25008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3127" y="24734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不再复述输入，而是建模状态转移。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031" y="277063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3127" y="2743200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Lingshu-Cell：掩码离散扩散 + 条件生成。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AlphaCell：OT-CFM 在 32×128 隐流形上建模转移。</a:t>
            </a:r>
          </a:p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CellOS：JEPA 双视角 + 12B MoE。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031" y="34152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A94A6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3127" y="3387852"/>
            <a:ext cx="40658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采样慢；可解释性弱；评测没跟上。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031" y="4297680"/>
            <a:ext cx="48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>
                <a:solidFill>
                  <a:srgbClr val="A5484A"/>
                </a:solidFill>
                <a:latin typeface="微软雅黑"/>
                <a:ea typeface="微软雅黑"/>
              </a:rPr>
              <a:t>它把“干预”变成分布搬运，但还没学会解释自己。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4809744"/>
            <a:ext cx="4833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5484A"/>
                </a:solidFill>
                <a:latin typeface="微软雅黑"/>
                <a:ea typeface="微软雅黑"/>
              </a:rPr>
              <a:t>Lingshu-Cell · AlphaCell · CellOS · scDifformer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687568"/>
            <a:ext cx="10765231" cy="56692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687568"/>
            <a:ext cx="45720" cy="56692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>
                <a:solidFill>
                  <a:srgbClr val="7A4E50"/>
                </a:solidFill>
                <a:latin typeface="微软雅黑"/>
                <a:ea typeface="微软雅黑"/>
              </a:rPr>
              <a:t>D 类与 E 类的共同点：都换了建模单元；区别是建模细胞集合，还是建模状态分布。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02  ·  F 类与主干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语言接口，以及一个正交维度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3478682" cy="13898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3478682" cy="45720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93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B4C7A"/>
                </a:solidFill>
                <a:latin typeface="微软雅黑"/>
                <a:ea typeface="微软雅黑"/>
              </a:rPr>
              <a:t>F 类：定义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3112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把细胞与语言放进同一坐标系：序列化、文本嵌入、对比对齐。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6506" y="1481328"/>
            <a:ext cx="3478682" cy="13898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6506" y="1481328"/>
            <a:ext cx="3478682" cy="45720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386" y="16093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B4C7A"/>
                </a:solidFill>
                <a:latin typeface="微软雅黑"/>
                <a:ea typeface="微软雅黑"/>
              </a:rPr>
              <a:t>F 类：代价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1847088"/>
            <a:ext cx="3112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读得到“是什么”，读不到“多少”。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9780" y="1481328"/>
            <a:ext cx="3478682" cy="13898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9780" y="1481328"/>
            <a:ext cx="3478682" cy="45720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2660" y="16093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B4C7A"/>
                </a:solidFill>
                <a:latin typeface="微软雅黑"/>
                <a:ea typeface="微软雅黑"/>
              </a:rPr>
              <a:t>主干：正交维度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1847088"/>
            <a:ext cx="3112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5D6B7A"/>
                </a:solidFill>
                <a:latin typeface="微软雅黑"/>
                <a:ea typeface="微软雅黑"/>
              </a:rPr>
              <a:t>Performer / RetNet / Mamba 只决定“能读多长、多快”。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5409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0803A"/>
                </a:solidFill>
                <a:latin typeface="微软雅黑"/>
                <a:ea typeface="微软雅黑"/>
              </a:rPr>
              <a:t>代表模型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55264"/>
            <a:ext cx="1731873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162214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Cell2Sentence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36545" y="3255264"/>
            <a:ext cx="976579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1409" y="3328416"/>
            <a:ext cx="8668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GenePT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4564" y="3255264"/>
            <a:ext cx="1192377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9428" y="3328416"/>
            <a:ext cx="10826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LangCell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8382" y="3255264"/>
            <a:ext cx="1731873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3246" y="3328416"/>
            <a:ext cx="162214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CellWhisperer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1696" y="3255264"/>
            <a:ext cx="1516075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3328416"/>
            <a:ext cx="14063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Transformer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9211" y="3255264"/>
            <a:ext cx="1300276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4075" y="3328416"/>
            <a:ext cx="11905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Performer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0928" y="3255264"/>
            <a:ext cx="976579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3328416"/>
            <a:ext cx="8668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RetNet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712464"/>
            <a:ext cx="96012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B4C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3785616"/>
            <a:ext cx="850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B4C7A"/>
                </a:solidFill>
                <a:latin typeface="微软雅黑"/>
                <a:ea typeface="微软雅黑"/>
              </a:rPr>
              <a:t>Mamba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3913632"/>
            <a:ext cx="10765231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40233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>
                <a:solidFill>
                  <a:srgbClr val="6B4C7A"/>
                </a:solidFill>
                <a:latin typeface="微软雅黑"/>
                <a:ea typeface="微软雅黑"/>
              </a:rPr>
              <a:t>变体谱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1952" y="4005072"/>
            <a:ext cx="93936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文本序列化（Cell2Sentence）→ 文本嵌入（GenePT）→ 对比对齐（CellWhisperer / LangCell）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645152"/>
            <a:ext cx="10765231" cy="65836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4645152"/>
            <a:ext cx="45720" cy="65836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3659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>
                <a:solidFill>
                  <a:srgbClr val="5B7F5E"/>
                </a:solidFill>
                <a:latin typeface="微软雅黑"/>
                <a:ea typeface="微软雅黑"/>
              </a:rPr>
              <a:t>适用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4752" y="472744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3D4B5C"/>
                </a:solidFill>
                <a:latin typeface="微软雅黑"/>
                <a:ea typeface="微软雅黑"/>
              </a:rPr>
              <a:t>冷启动、自然语言检索、零样本注释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473659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不适用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47274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3D4B5C"/>
                </a:solidFill>
                <a:latin typeface="微软雅黑"/>
                <a:ea typeface="微软雅黑"/>
              </a:rPr>
              <a:t>扰动预测、剂量响应、精细定量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596128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4C7A"/>
                </a:solidFill>
                <a:latin typeface="微软雅黑"/>
                <a:ea typeface="微软雅黑"/>
              </a:rPr>
              <a:t>一句话：语言是入口，不是终点。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03  ·  模型亮点 · A 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三个定义了范式的模型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63040"/>
            <a:ext cx="3503066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3503066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91056"/>
            <a:ext cx="3173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scBERT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2021 · 腾讯 AI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110 万细胞 · 参数未公开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51760"/>
            <a:ext cx="317388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用 gene2vec 替代位置编码；
Performer 把 16,907 长度的注意力降到线性。
首次证明 BERT 可行。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133087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334256"/>
            <a:ext cx="317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200 维偏窄、词表封闭；
PBMC 上不敌逻辑回归。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431536"/>
            <a:ext cx="31738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1F3A5F"/>
                </a:solidFill>
                <a:latin typeface="微软雅黑"/>
                <a:ea typeface="微软雅黑"/>
              </a:rPr>
              <a:t>历史意义 &gt; 实用价值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4314" y="1463040"/>
            <a:ext cx="3503066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4314" y="1463040"/>
            <a:ext cx="3503066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8906" y="1591056"/>
            <a:ext cx="3173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Geneformer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906" y="1883664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2022 · Gladstone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906" y="2139696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2,990 万细胞 · 10M 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906" y="2450592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2651760"/>
            <a:ext cx="317388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秩编码：除中位表达再排序，把管家基因压后、转录因子顶前。
10M 参数，单卡可跑。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906" y="4133087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906" y="4334256"/>
            <a:ext cx="317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丢绝对幅值；dropout 让整条排名平移；截断丢尾部。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906" y="5431536"/>
            <a:ext cx="31738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1F3A5F"/>
                </a:solidFill>
                <a:latin typeface="微软雅黑"/>
                <a:ea typeface="微软雅黑"/>
              </a:rPr>
              <a:t>第一个证明“迁移学习有效”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5396" y="1463040"/>
            <a:ext cx="3503066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5396" y="1463040"/>
            <a:ext cx="3503066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9988" y="1591056"/>
            <a:ext cx="3173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GeneCompass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9988" y="1883664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2024 · 中科院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9988" y="2139696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1.02 亿细胞 · &gt;100M 参数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9988" y="2450592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9988" y="2651760"/>
            <a:ext cx="317388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四类先验拼成 3,841 维再投影：GRN、启动子、基因家族、共表达。
人鼠同源映射 + 物种 token。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9988" y="4133087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9988" y="4334256"/>
            <a:ext cx="317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首层参数大；先验质量决定上限；仓库无 LICENSE。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9988" y="5431536"/>
            <a:ext cx="31738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1F3A5F"/>
                </a:solidFill>
                <a:latin typeface="微软雅黑"/>
                <a:ea typeface="微软雅黑"/>
              </a:rPr>
              <a:t>少数做了湿实验闭环的模型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03  ·  模型亮点 · B/C 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三个把“生成”做进架构的模型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63040"/>
            <a:ext cx="3503066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3503066" cy="548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91056"/>
            <a:ext cx="3173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03A"/>
                </a:solidFill>
                <a:latin typeface="微软雅黑"/>
                <a:ea typeface="微软雅黑"/>
              </a:rPr>
              <a:t>scGPT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2023 · 多伦多/Vector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1,030 万细胞 · 53M 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51760"/>
            <a:ext cx="317388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块状掩码：待预测基因只能看已知基因。
于是“敲除”= 把该基因设为未知，一次前向完成。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133087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334256"/>
            <a:ext cx="317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每细胞分箱边界漂移；1,200 HVG 限制覆盖；零样本不敌基线。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431536"/>
            <a:ext cx="31738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C0803A"/>
                </a:solidFill>
                <a:latin typeface="微软雅黑"/>
                <a:ea typeface="微软雅黑"/>
              </a:rPr>
              <a:t>生态最完整的模型之一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4314" y="1463040"/>
            <a:ext cx="3503066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4314" y="1463040"/>
            <a:ext cx="3503066" cy="548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8906" y="1591056"/>
            <a:ext cx="3173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03A"/>
                </a:solidFill>
                <a:latin typeface="微软雅黑"/>
                <a:ea typeface="微软雅黑"/>
              </a:rPr>
              <a:t>TranscriptFormer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906" y="1883664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2025 · CZI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906" y="2139696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1.12 亿 / 12 物种 · 444M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906" y="2450592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2651760"/>
            <a:ext cx="317388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基因 softmax + 零截断泊松；计数以 log1p 进入注意力分数。
12 物种、247,388 词表、ESM-2 蛋白身份。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906" y="4133087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906" y="4334256"/>
            <a:ext cx="317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输出头很宽；自回归推理慢；随机排列需靠打乱训练。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906" y="5431536"/>
            <a:ext cx="31738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C0803A"/>
                </a:solidFill>
                <a:latin typeface="微软雅黑"/>
                <a:ea typeface="微软雅黑"/>
              </a:rPr>
              <a:t>生成式 + 跨物种结合得最好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5396" y="1463040"/>
            <a:ext cx="3503066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5396" y="1463040"/>
            <a:ext cx="3503066" cy="54864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9988" y="1591056"/>
            <a:ext cx="3173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03A"/>
                </a:solidFill>
                <a:latin typeface="微软雅黑"/>
                <a:ea typeface="微软雅黑"/>
              </a:rPr>
              <a:t>scFoundation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9988" y="1883664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2023 · 清华/百图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9988" y="2139696"/>
            <a:ext cx="31738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5,000 万细胞 · 100M 参数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9988" y="2450592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9988" y="2651760"/>
            <a:ext cx="317388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非对称编解码：只编码非零位（约 10%），解码全谱。
T/S 深度 token + 软分箱 + 30% 掩码 MSE。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9988" y="4133087"/>
            <a:ext cx="3173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9988" y="4334256"/>
            <a:ext cx="317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固定 19,264 基因；MSE 被高表达主导；scaling 只在 loss 上成立。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9988" y="5431536"/>
            <a:ext cx="317388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C0803A"/>
                </a:solidFill>
                <a:latin typeface="微软雅黑"/>
                <a:ea typeface="微软雅黑"/>
              </a:rPr>
              <a:t>最务实的稀疏设计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03  ·  模型亮点 · 四类极致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四个在不同维度上做到极致的模型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63040"/>
            <a:ext cx="2595295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2595295" cy="548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910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7F5E"/>
                </a:solidFill>
                <a:latin typeface="微软雅黑"/>
                <a:ea typeface="微软雅黑"/>
              </a:rPr>
              <a:t>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2023 · Stanford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3,600 万 / 8 物种 · 650M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51760"/>
            <a:ext cx="226611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没有基因词表：ESM-2 蛋白嵌入即身份。
按表达加权抽 1,024 基因，零样本嵌入未见物种。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133087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334256"/>
            <a:ext cx="22661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抽样随机；嵌入表巨大；二分类目标丢幅值。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431536"/>
            <a:ext cx="22661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5B7F5E"/>
                </a:solidFill>
                <a:latin typeface="微软雅黑"/>
                <a:ea typeface="微软雅黑"/>
              </a:rPr>
              <a:t>通用坐标系的最佳代表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36543" y="1463040"/>
            <a:ext cx="2595295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6543" y="1463040"/>
            <a:ext cx="2595295" cy="548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1135" y="15910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7F5E"/>
                </a:solidFill>
                <a:latin typeface="微软雅黑"/>
                <a:ea typeface="微软雅黑"/>
              </a:rPr>
              <a:t>CellFM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1883664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2025 · 中山大学/华为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1135" y="2139696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1.02 亿细胞 · 800M 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1135" y="2450592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1135" y="2651760"/>
            <a:ext cx="226611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8 亿参数、40 层 ERetNet、2,048 基因、连续标量。
MindSpore + 32 张昇腾 910。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1135" y="4133087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1135" y="4334256"/>
            <a:ext cx="22661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单物种；参数与下游增益未解耦；许可为 Other。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1135" y="5431536"/>
            <a:ext cx="22661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5B7F5E"/>
                </a:solidFill>
                <a:latin typeface="微软雅黑"/>
                <a:ea typeface="微软雅黑"/>
              </a:rPr>
              <a:t>国产算力栈的可行性证明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9855" y="1463040"/>
            <a:ext cx="2595295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9855" y="1463040"/>
            <a:ext cx="2595295" cy="548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447" y="15910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7F5E"/>
                </a:solidFill>
                <a:latin typeface="微软雅黑"/>
                <a:ea typeface="微软雅黑"/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1883664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2025 · Arc Institute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2139696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1.67 亿 + 1 亿扰动细胞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447" y="2450592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7" y="2651760"/>
            <a:ext cx="226611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不预测单个细胞，预测 256 个细胞的集合分布。
SE 学表征、ST 学变换，MMD/能量距离做损失。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47" y="4133087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47" y="4334256"/>
            <a:ext cx="22661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非商用；集合丢单细胞分辨率；依赖扰动数据。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447" y="5431536"/>
            <a:ext cx="22661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5B7F5E"/>
                </a:solidFill>
                <a:latin typeface="微软雅黑"/>
                <a:ea typeface="微软雅黑"/>
              </a:rPr>
              <a:t>第一个把分布损失做成主流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3167" y="1463040"/>
            <a:ext cx="2595295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3167" y="1463040"/>
            <a:ext cx="2595295" cy="54864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7759" y="15910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7F5E"/>
                </a:solidFill>
                <a:latin typeface="微软雅黑"/>
                <a:ea typeface="微软雅黑"/>
              </a:rPr>
              <a:t>CellPLM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7759" y="1883664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2024 · ICLR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7759" y="2139696"/>
            <a:ext cx="2266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1,140 万细胞 · 82.4M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7759" y="2450592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7759" y="2651760"/>
            <a:ext cx="226611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细胞为 token：切片内细胞互相注意。
16 分量高斯混合；批次标签只进解码器。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7759" y="4133087"/>
            <a:ext cx="22661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7759" y="4334256"/>
            <a:ext cx="22661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基因关系被压平；推理需邻域；位置编码实现有落差。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7759" y="5431536"/>
            <a:ext cx="22661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5B7F5E"/>
                </a:solidFill>
                <a:latin typeface="微软雅黑"/>
                <a:ea typeface="微软雅黑"/>
              </a:rPr>
              <a:t>冻结嵌入 + 轻量头的首选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03  ·  模型亮点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五个正在改写规则的模型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63040"/>
            <a:ext cx="2050633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63040"/>
            <a:ext cx="2050633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91056"/>
            <a:ext cx="1721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5484A"/>
                </a:solidFill>
                <a:latin typeface="微软雅黑"/>
                <a:ea typeface="微软雅黑"/>
              </a:rPr>
              <a:t>Lingshu-Cell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阿里达摩院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约 18,000 基因 · 未公开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51760"/>
            <a:ext cx="172144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把转录组当离散分布去噪：掩码离散扩散，按条件生成。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133087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334256"/>
            <a:ext cx="17214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采样慢；预印本。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431536"/>
            <a:ext cx="172144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最彻底“换目标函数”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1881" y="1463040"/>
            <a:ext cx="2050633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1881" y="1463040"/>
            <a:ext cx="2050633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6473" y="1591056"/>
            <a:ext cx="1721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5484A"/>
                </a:solidFill>
                <a:latin typeface="微软雅黑"/>
                <a:ea typeface="微软雅黑"/>
              </a:rPr>
              <a:t>AlphaCell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6473" y="1883664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同济 DELTA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6473" y="2139696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19,253 基因 · 1.2B 解码器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6473" y="2450592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6473" y="2651760"/>
            <a:ext cx="172144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全基因输入 → 32×128 隐流形 → OT-CFM 建模状态转移。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6473" y="4133087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6473" y="4334256"/>
            <a:ext cx="17214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解码器巨大；可解释性弱。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6473" y="5431536"/>
            <a:ext cx="172144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连续时间生成路线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0530" y="1463040"/>
            <a:ext cx="2050633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70530" y="1463040"/>
            <a:ext cx="2050633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5122" y="1591056"/>
            <a:ext cx="1721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5484A"/>
                </a:solidFill>
                <a:latin typeface="微软雅黑"/>
                <a:ea typeface="微软雅黑"/>
              </a:rPr>
              <a:t>CellOS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5122" y="1883664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百曜科技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5122" y="2139696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3.905 亿细胞 · 12B MoE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5122" y="2450592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5122" y="2651760"/>
            <a:ext cx="172144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JEPA 双视角联合嵌入预测，不复述输入。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5122" y="4133087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5122" y="4334256"/>
            <a:ext cx="17214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厂商口径；未开源。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5122" y="5431536"/>
            <a:ext cx="172144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值得关注思路，不是数字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9180" y="1463040"/>
            <a:ext cx="2050633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49180" y="1463040"/>
            <a:ext cx="2050633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3772" y="1591056"/>
            <a:ext cx="1721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5484A"/>
                </a:solidFill>
                <a:latin typeface="微软雅黑"/>
                <a:ea typeface="微软雅黑"/>
              </a:rPr>
              <a:t>CAPTAIN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3772" y="1883664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湖南大学等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3772" y="2139696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426 万 CITE-seq · 382 蛋白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3772" y="2450592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3772" y="2651760"/>
            <a:ext cx="172144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蛋白 token 作 query、RNA 作 key/value。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3772" y="4133087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3772" y="4334256"/>
            <a:ext cx="17214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面板窄；物种写死为 2。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13772" y="5431536"/>
            <a:ext cx="172144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CITE-seq 规模化的第一步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27829" y="1463040"/>
            <a:ext cx="2050633" cy="46817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27829" y="1463040"/>
            <a:ext cx="2050633" cy="54864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92421" y="1591056"/>
            <a:ext cx="1721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5484A"/>
                </a:solidFill>
                <a:latin typeface="微软雅黑"/>
                <a:ea typeface="微软雅黑"/>
              </a:rPr>
              <a:t>RegFormer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92421" y="1883664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8A94A6"/>
                </a:solidFill>
                <a:latin typeface="微软雅黑"/>
                <a:ea typeface="微软雅黑"/>
              </a:rPr>
              <a:t>华大研究院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92421" y="2139696"/>
            <a:ext cx="1721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C0803A"/>
                </a:solidFill>
                <a:latin typeface="微软雅黑"/>
                <a:ea typeface="微软雅黑"/>
              </a:rPr>
              <a:t>2,500 万细胞 · 45 组织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421" y="2450592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8A94A6"/>
                </a:solidFill>
                <a:latin typeface="微软雅黑"/>
                <a:ea typeface="微软雅黑"/>
              </a:rPr>
              <a:t>独特设计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2421" y="2651760"/>
            <a:ext cx="172144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22303F"/>
                </a:solidFill>
                <a:latin typeface="微软雅黑"/>
                <a:ea typeface="微软雅黑"/>
              </a:rPr>
              <a:t>GRN 引导基因排序 + Mamba。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92421" y="4133087"/>
            <a:ext cx="172144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>
                <a:solidFill>
                  <a:srgbClr val="A5484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92421" y="4334256"/>
            <a:ext cx="17214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单物种；复现少。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92421" y="5431536"/>
            <a:ext cx="172144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A5484A"/>
                </a:solidFill>
                <a:latin typeface="微软雅黑"/>
                <a:ea typeface="微软雅黑"/>
              </a:rPr>
              <a:t>先验结构化的最新形态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04  ·  交叉矩阵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哪一类真正回应了哪个问题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ig4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" y="1426464"/>
            <a:ext cx="6953743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14232" y="1572768"/>
            <a:ext cx="2764231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两个立刻可见的结论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P3 整行为空：数据泄漏没有架构解，只能靠时间切分与审计。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P11 几乎每列都有点：适配是工程问题，所有类都能用冻结、LoRA、小模型缓解。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目标层的问题（P8–P10）集中在 D/E 类，因为只有它们换了损失函数。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960" b="1">
                <a:solidFill>
                  <a:srgbClr val="C0803A"/>
                </a:solidFill>
                <a:latin typeface="微软雅黑"/>
                <a:ea typeface="微软雅黑"/>
              </a:rPr>
              <a:t>空白不等于无关，而是“没有结构性优势”。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04  ·  现实检验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三项被确认的负面结论，四项仍然成立的优势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99616"/>
            <a:ext cx="3436010" cy="1783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99616"/>
            <a:ext cx="3436010" cy="45720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30702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A5484A"/>
                </a:solidFill>
                <a:latin typeface="微软雅黑"/>
                <a:ea typeface="微软雅黑"/>
              </a:rPr>
              <a:t>零样本不敌基线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310682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Geneformer ASW 0.38–0.52；
PBMC 上 L1 逻辑回归胜 scBERT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842" y="1499616"/>
            <a:ext cx="3436010" cy="1783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7842" y="1499616"/>
            <a:ext cx="3436010" cy="45720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0722" y="1664208"/>
            <a:ext cx="30702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A5484A"/>
                </a:solidFill>
                <a:latin typeface="微软雅黑"/>
                <a:ea typeface="微软雅黑"/>
              </a:rPr>
              <a:t>扰动打不过 additive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011680"/>
            <a:ext cx="310682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Norman 双扰动上所有模型误差
高于“两个单扰动相加”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2452" y="1499616"/>
            <a:ext cx="3436010" cy="1783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2452" y="1499616"/>
            <a:ext cx="3436010" cy="45720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5332" y="1664208"/>
            <a:ext cx="307025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A5484A"/>
                </a:solidFill>
                <a:latin typeface="微软雅黑"/>
                <a:ea typeface="微软雅黑"/>
              </a:rPr>
              <a:t>排名随数据集翻转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5332" y="2011680"/>
            <a:ext cx="310682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40" b="0">
                <a:solidFill>
                  <a:srgbClr val="5D6B7A"/>
                </a:solidFill>
                <a:latin typeface="微软雅黑"/>
                <a:ea typeface="微软雅黑"/>
              </a:rPr>
              <a:t>scEval 8 类任务 × 10 个模型：
没有任何模型全面领先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661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但四条优势仍然成立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13632"/>
            <a:ext cx="26181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7F5E"/>
                </a:solidFill>
                <a:latin typeface="微软雅黑"/>
                <a:ea typeface="微软雅黑"/>
              </a:rPr>
              <a:t>● 微调后 OOD 泛化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样本越少，优势越明显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2827" y="3913632"/>
            <a:ext cx="26181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7F5E"/>
                </a:solidFill>
                <a:latin typeface="微软雅黑"/>
                <a:ea typeface="微软雅黑"/>
              </a:rPr>
              <a:t>● 嵌入可作特征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3995" y="4187952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优于均值与随机嵌入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2423" y="3913632"/>
            <a:ext cx="26181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7F5E"/>
                </a:solidFill>
                <a:latin typeface="微软雅黑"/>
                <a:ea typeface="微软雅黑"/>
              </a:rPr>
              <a:t>● 预训练确有贡献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591" y="4187952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去预训练显著变差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019" y="3913632"/>
            <a:ext cx="26181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7F5E"/>
                </a:solidFill>
                <a:latin typeface="微软雅黑"/>
                <a:ea typeface="微软雅黑"/>
              </a:rPr>
              <a:t>● 域匹配 &gt; 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187" y="4187952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D6B7A"/>
                </a:solidFill>
                <a:latin typeface="微软雅黑"/>
                <a:ea typeface="微软雅黑"/>
              </a:rPr>
              <a:t>Replogle 线性模型胜通用大模型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074920"/>
            <a:ext cx="10765231" cy="8686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074920"/>
            <a:ext cx="45720" cy="868680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3D4B5C"/>
                </a:solidFill>
                <a:latin typeface="微软雅黑"/>
                <a:ea typeface="微软雅黑"/>
              </a:rPr>
              <a:t>结论：scFM 不是“无用”，而是“被误用”。当成开箱即用的通用智能会失望；当成高质量初始化 + 迁移学习起点，它已在多个场景证明价值。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04  ·  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从任务出发，而不是从模型出发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fig5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859"/>
            <a:ext cx="7818120" cy="4580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14232" y="1572768"/>
            <a:ext cx="2764231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1F3A5F"/>
                </a:solidFill>
                <a:latin typeface="微软雅黑"/>
                <a:ea typeface="微软雅黑"/>
              </a:rPr>
              <a:t>三条通用规则</a:t>
            </a:r>
          </a:p>
          <a:p>
            <a:pPr algn="l">
              <a:lnSpc>
                <a:spcPct val="122000"/>
              </a:lnSpc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① 先跑强基线：HVG / Harmony / scVI / 逻辑回归 / additive。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② 零样本与微调分开报告。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960" b="0">
                <a:solidFill>
                  <a:srgbClr val="5D6B7A"/>
                </a:solidFill>
                <a:latin typeface="微软雅黑"/>
                <a:ea typeface="微软雅黑"/>
              </a:rPr>
              <a:t>③ 扰动任务必须报告 DES/PDS，而不是 MSE。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960" b="1">
                <a:solidFill>
                  <a:srgbClr val="C0803A"/>
                </a:solidFill>
                <a:latin typeface="微软雅黑"/>
                <a:ea typeface="微软雅黑"/>
              </a:rPr>
              <a:t>用法不是“照着选”，而是“先排除”：先判断任务落在哪一层，再排除结构性代价不可接受的大类。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05  ·  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2026–2028：五条可观察的判断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572768"/>
            <a:ext cx="1005840" cy="5669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2821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162763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303F"/>
                </a:solidFill>
                <a:latin typeface="微软雅黑"/>
                <a:ea typeface="微软雅黑"/>
              </a:rPr>
              <a:t>观测 atlas 接近饱和，扰动数据决定上限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19072"/>
            <a:ext cx="35871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5D6B7A"/>
                </a:solidFill>
                <a:latin typeface="微软雅黑"/>
                <a:ea typeface="微软雅黑"/>
              </a:rPr>
              <a:t>信号：扰动数据成本、跨实验室标准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414016"/>
            <a:ext cx="1005840" cy="566928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6946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4688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303F"/>
                </a:solidFill>
                <a:latin typeface="微软雅黑"/>
                <a:ea typeface="微软雅黑"/>
              </a:rPr>
              <a:t>从重建转向分布/转移，集合级损失成为标配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560320"/>
            <a:ext cx="35871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5D6B7A"/>
                </a:solidFill>
                <a:latin typeface="微软雅黑"/>
                <a:ea typeface="微软雅黑"/>
              </a:rPr>
              <a:t>信号：新论文是否默认报告分布指标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255264"/>
            <a:ext cx="1005840" cy="566928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10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331012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303F"/>
                </a:solidFill>
                <a:latin typeface="微软雅黑"/>
                <a:ea typeface="微软雅黑"/>
              </a:rPr>
              <a:t>词表无关的基因身份成为默认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3401568"/>
            <a:ext cx="35871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5D6B7A"/>
                </a:solidFill>
                <a:latin typeface="微软雅黑"/>
                <a:ea typeface="微软雅黑"/>
              </a:rPr>
              <a:t>信号：新模型是否还依赖固定词表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096512"/>
            <a:ext cx="1005840" cy="566928"/>
          </a:xfrm>
          <a:prstGeom prst="rect">
            <a:avLst/>
          </a:prstGeom>
          <a:solidFill>
            <a:srgbClr val="5B7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5196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415137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303F"/>
                </a:solidFill>
                <a:latin typeface="微软雅黑"/>
                <a:ea typeface="微软雅黑"/>
              </a:rPr>
              <a:t>通用底座 + 领域适配器，不会有一个主干通吃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4242816"/>
            <a:ext cx="35871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5D6B7A"/>
                </a:solidFill>
                <a:latin typeface="微软雅黑"/>
                <a:ea typeface="微软雅黑"/>
              </a:rPr>
              <a:t>信号：是否出现模型卡与适配器市场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937760"/>
            <a:ext cx="1005840" cy="566928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0932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499262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303F"/>
                </a:solidFill>
                <a:latin typeface="微软雅黑"/>
                <a:ea typeface="微软雅黑"/>
              </a:rPr>
              <a:t>从排行榜转向“能否替代一次实验”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5084064"/>
            <a:ext cx="35871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5D6B7A"/>
                </a:solidFill>
                <a:latin typeface="微软雅黑"/>
                <a:ea typeface="微软雅黑"/>
              </a:rPr>
              <a:t>信号：VCC 是否成为年度惯例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803A"/>
                </a:solidFill>
                <a:latin typeface="微软雅黑"/>
                <a:ea typeface="微软雅黑"/>
              </a:rPr>
              <a:t>05  ·  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三条值得走的路，一条不建议的路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35024"/>
            <a:ext cx="10765231" cy="10972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99616"/>
            <a:ext cx="3496970" cy="2240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99616"/>
            <a:ext cx="349697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3094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F3A5F"/>
                </a:solidFill>
                <a:latin typeface="微软雅黑"/>
                <a:ea typeface="微软雅黑"/>
              </a:rPr>
              <a:t>做数据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66543"/>
            <a:ext cx="309463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5D6B7A"/>
                </a:solidFill>
                <a:latin typeface="微软雅黑"/>
                <a:ea typeface="微软雅黑"/>
              </a:rPr>
              <a:t>高质量扰动数据的生产成本、元数据标准化、跨实验室去重，是最难被追平的壁垒。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7362" y="1499616"/>
            <a:ext cx="3496970" cy="2240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7362" y="1499616"/>
            <a:ext cx="3496970" cy="4572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8530" y="1682496"/>
            <a:ext cx="3094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微软雅黑"/>
                <a:ea typeface="微软雅黑"/>
              </a:rPr>
              <a:t>做目标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8530" y="2066543"/>
            <a:ext cx="309463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5D6B7A"/>
                </a:solidFill>
                <a:latin typeface="微软雅黑"/>
                <a:ea typeface="微软雅黑"/>
              </a:rPr>
              <a:t>分布级损失、因果识别、可识别性约束，才是 P8–P10 的真正解法。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1492" y="1499616"/>
            <a:ext cx="3496970" cy="2240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492" y="1499616"/>
            <a:ext cx="3496970" cy="45720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2660" y="1682496"/>
            <a:ext cx="3094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C0803A"/>
                </a:solidFill>
                <a:latin typeface="微软雅黑"/>
                <a:ea typeface="微软雅黑"/>
              </a:rPr>
              <a:t>做评测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066543"/>
            <a:ext cx="309463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5D6B7A"/>
                </a:solidFill>
                <a:latin typeface="微软雅黑"/>
                <a:ea typeface="微软雅黑"/>
              </a:rPr>
              <a:t>时间切分、逐细胞审计、任务化指标、失败案例披露——不产生引用，但决定判断力。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005072"/>
            <a:ext cx="10765231" cy="731520"/>
          </a:xfrm>
          <a:prstGeom prst="rect">
            <a:avLst/>
          </a:prstGeom>
          <a:solidFill>
            <a:srgbClr val="F6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005072"/>
            <a:ext cx="45720" cy="731520"/>
          </a:xfrm>
          <a:prstGeom prst="rect">
            <a:avLst/>
          </a:prstGeom>
          <a:solidFill>
            <a:srgbClr val="A54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133087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5484A"/>
                </a:solidFill>
                <a:latin typeface="微软雅黑"/>
                <a:ea typeface="微软雅黑"/>
              </a:rPr>
              <a:t>不建议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7672" y="4114800"/>
            <a:ext cx="9347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D4B5C"/>
                </a:solidFill>
                <a:latin typeface="微软雅黑"/>
                <a:ea typeface="微软雅黑"/>
              </a:rPr>
              <a:t>再训一个同质的大模型。除非你有别人没有的数据，或者别人没有的算力栈。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0749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>
                <a:solidFill>
                  <a:srgbClr val="C0803A"/>
                </a:solidFill>
                <a:latin typeface="微软雅黑"/>
                <a:ea typeface="微软雅黑"/>
              </a:rPr>
              <a:t>如果只有一句话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358384"/>
            <a:ext cx="1076523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先用强基线把任务做到 80 分，再问 scFM 能不能把最后 20 分补上。
补不上，不是模型不好，是任务不需要它。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437376"/>
            <a:ext cx="10765231" cy="5486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501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4A6"/>
                </a:solidFill>
                <a:latin typeface="微软雅黑"/>
                <a:ea typeface="微软雅黑"/>
              </a:rPr>
              <a:t>单细胞大模型：问题、方案与架构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6943" y="65013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8A94A6"/>
                </a:solidFill>
                <a:latin typeface="微软雅黑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3172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0803A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9748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讨论与提问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675887"/>
            <a:ext cx="2011680" cy="45720"/>
          </a:xfrm>
          <a:prstGeom prst="rect">
            <a:avLst/>
          </a:prstGeom>
          <a:solidFill>
            <a:srgbClr val="C08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91363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2EC"/>
                </a:solidFill>
                <a:latin typeface="微软雅黑"/>
                <a:ea typeface="微软雅黑"/>
              </a:rPr>
              <a:t>报告全文：单细胞大模型_问题与架构_调研报告（DOCX / PDF，50 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A9B8C9"/>
                </a:solidFill>
                <a:latin typeface="微软雅黑"/>
                <a:ea typeface="微软雅黑"/>
              </a:rPr>
              <a:t>2026 年 10 月 26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